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731520"/>
            <a:ext cx="2926080" cy="2926080"/>
          </a:xfrm>
          <a:prstGeom prst="ellipse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914400"/>
            <a:ext cx="1828800" cy="1828800"/>
          </a:xfrm>
          <a:prstGeom prst="ellipse">
            <a:avLst/>
          </a:prstGeom>
          <a:solidFill>
            <a:srgbClr val="5B4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5303520"/>
            <a:ext cx="2377440" cy="2377440"/>
          </a:xfrm>
          <a:prstGeom prst="ellipse">
            <a:avLst/>
          </a:prstGeom>
          <a:solidFill>
            <a:srgbClr val="16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7BEFF"/>
                </a:solidFill>
                <a:latin typeface="Aptos"/>
              </a:defRPr>
            </a:pPr>
            <a:r>
              <a:t>DBMS PROJECT BASED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08760"/>
            <a:ext cx="8686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RetailDesk</a:t>
            </a:r>
          </a:p>
          <a:p>
            <a:pPr>
              <a:defRPr sz="2400">
                <a:solidFill>
                  <a:srgbClr val="E1E4FA"/>
                </a:solidFill>
                <a:latin typeface="Aptos"/>
              </a:defRPr>
            </a:pPr>
            <a:r>
              <a:t>Retail Inventory &amp; Sales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0F5"/>
                </a:solidFill>
                <a:latin typeface="Aptos"/>
              </a:defRPr>
            </a:pPr>
            <a:r>
              <a:t>A full-stack web application built around a normalised MySQL database.</a:t>
            </a:r>
          </a:p>
          <a:p>
            <a:pPr>
              <a:defRPr sz="1200">
                <a:solidFill>
                  <a:srgbClr val="B4BCDC"/>
                </a:solidFill>
                <a:latin typeface="Aptos"/>
              </a:defRPr>
            </a:pPr>
            <a:r>
              <a:t>Database Management Systems • PBL Final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9893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6D7"/>
                </a:solidFill>
                <a:latin typeface="Aptos"/>
              </a:defRPr>
            </a:pPr>
            <a:r>
              <a:t>Group Members: Add names &amp; roll numbers  |  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1. 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Why a retail store needs a proper DBMS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3949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4992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E434A"/>
                </a:solidFill>
                <a:latin typeface="Aptos Display"/>
              </a:defRPr>
            </a:pPr>
            <a:r>
              <a:t>Problems in manual / spreadsheet-based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59152"/>
            <a:ext cx="4956048" cy="3447287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Manual stock updates become inaccurate and can allow overselling.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Supplier, category and customer information gets repeated and inconsistent.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Deleting records can create broken or dangling references.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Low-stock items are easy to miss without alerts.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Manual totals and invoices can contain calculation errors.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Managers need fast answers about sales, best sellers and customers.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949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4992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915C"/>
                </a:solidFill>
                <a:latin typeface="Aptos Display"/>
              </a:defRPr>
            </a:pPr>
            <a:r>
              <a:t>What RetailDesk solves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59152"/>
            <a:ext cx="4956048" cy="3447287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Centralised inventory, sales, customer, supplier and payment data.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3NF design reduces duplication and improves consistency.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Constraints and transactions protect data integrity.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Dashboard + reports turn stored data into useful information.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Role-based access separates Admin, Manager and Cashier actions.</a:t>
            </a:r>
          </a:p>
          <a:p>
            <a:pPr>
              <a:spcAft>
                <a:spcPts val="700"/>
              </a:spcAft>
              <a:defRPr sz="1600">
                <a:solidFill>
                  <a:srgbClr val="242734"/>
                </a:solidFill>
                <a:latin typeface="Aptos"/>
              </a:defRPr>
            </a:pPr>
            <a:r>
              <a:t>• POS workflow updates stock automatically when a sale is recorded.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2. Objectives, Scope &amp;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73152" cy="132588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443EB4"/>
                </a:solidFill>
                <a:latin typeface="Aptos Display"/>
              </a:defRPr>
            </a:pPr>
            <a:r>
              <a:t>11 + 1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2057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Tables + one database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82880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28800"/>
            <a:ext cx="73152" cy="1325880"/>
          </a:xfrm>
          <a:prstGeom prst="rect">
            <a:avLst/>
          </a:prstGeom>
          <a:solidFill>
            <a:srgbClr val="5B4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99339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B4BD2"/>
                </a:solidFill>
                <a:latin typeface="Aptos Display"/>
              </a:defRPr>
            </a:pPr>
            <a: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78608"/>
            <a:ext cx="2057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Normalised relational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82880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828800"/>
            <a:ext cx="73152" cy="1325880"/>
          </a:xfrm>
          <a:prstGeom prst="rect">
            <a:avLst/>
          </a:prstGeom>
          <a:solidFill>
            <a:srgbClr val="16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9339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9197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78608"/>
            <a:ext cx="2057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User roles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182880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1828800"/>
            <a:ext cx="73152" cy="1325880"/>
          </a:xfrm>
          <a:prstGeom prst="rect">
            <a:avLst/>
          </a:prstGeom>
          <a:solidFill>
            <a:srgbClr val="20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99339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915C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578608"/>
            <a:ext cx="2057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Business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429000"/>
            <a:ext cx="5212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566160"/>
            <a:ext cx="48097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3EB4"/>
                </a:solidFill>
                <a:latin typeface="Aptos Display"/>
              </a:defRPr>
            </a:pPr>
            <a:r>
              <a:t>Core objectives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3959352"/>
            <a:ext cx="4773168" cy="1664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Design and normalise the retail database to 3NF.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Implement keys, constraints, indexes and a view in MySQL 8.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Demonstrate DML/DQL, joins, aggregates and transactions.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Provide POS, CRUD, invoices, payments, reports and dashboards.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429000"/>
            <a:ext cx="5212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3566160"/>
            <a:ext cx="48097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9197"/>
                </a:solidFill>
                <a:latin typeface="Aptos Display"/>
              </a:defRPr>
            </a:pPr>
            <a:r>
              <a:t>Intended users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959352"/>
            <a:ext cx="4773168" cy="1664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Admin — full access and store settings.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Manager — catalogue, suppliers, stock, payments and reports.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Cashier — POS sales, customers and viewing; no catalogue deletion.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Scope: single-store retail operation in INR with GST.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3. Solution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How the website, API and database work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443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67712"/>
            <a:ext cx="1929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43EB4"/>
                </a:solidFill>
                <a:latin typeface="Aptos Display"/>
              </a:defRPr>
            </a:pPr>
            <a:r>
              <a:t>Browser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React 18 + Vite 5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07792" y="2542032"/>
            <a:ext cx="502920" cy="256032"/>
          </a:xfrm>
          <a:prstGeom prst="rightArrow">
            <a:avLst/>
          </a:prstGeom>
          <a:solidFill>
            <a:srgbClr val="66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14884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B4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267712"/>
            <a:ext cx="1929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5B4BD2"/>
                </a:solidFill>
                <a:latin typeface="Aptos Display"/>
              </a:defRPr>
            </a:pPr>
            <a:r>
              <a:t>REST API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96712" y="2542032"/>
            <a:ext cx="502920" cy="256032"/>
          </a:xfrm>
          <a:prstGeom prst="rightArrow">
            <a:avLst/>
          </a:prstGeom>
          <a:solidFill>
            <a:srgbClr val="66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14884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6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267712"/>
            <a:ext cx="192938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9197"/>
                </a:solidFill>
                <a:latin typeface="Aptos Display"/>
              </a:defRPr>
            </a:pPr>
            <a:r>
              <a:t>Data Access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mysql2 pool + SQL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85632" y="2542032"/>
            <a:ext cx="502920" cy="256032"/>
          </a:xfrm>
          <a:prstGeom prst="rightArrow">
            <a:avLst/>
          </a:prstGeom>
          <a:solidFill>
            <a:srgbClr val="66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6840" y="214884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0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7" y="2267712"/>
            <a:ext cx="2295144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915C"/>
                </a:solidFill>
                <a:latin typeface="Aptos Display"/>
              </a:defRPr>
            </a:pPr>
            <a:r>
              <a:t>Database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MySQL 8 • InnoDB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40480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3EB4"/>
                </a:solidFill>
                <a:latin typeface="Aptos Display"/>
              </a:defRPr>
            </a:pPr>
            <a:r>
              <a:t>Data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233672"/>
            <a:ext cx="4818888" cy="125272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React handles screens, forms, routing, charts and client validation.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Express handles authentication, authorisation, validation and business rules.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The browser never talks directly to MySQL.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0332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840480"/>
            <a:ext cx="4992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9197"/>
                </a:solidFill>
                <a:latin typeface="Aptos Display"/>
              </a:defRPr>
            </a:pPr>
            <a:r>
              <a:t>Why this architecture?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233672"/>
            <a:ext cx="4956048" cy="125272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Raw parameterised SQL keeps DBMS queries visible and explainable.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JWT secures authenticated requests; bcrypt stores password hashes.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Vite forwards /api calls to the Express server during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4. 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Entities, keys and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5</a:t>
            </a:r>
          </a:p>
        </p:txBody>
      </p:sp>
      <p:pic>
        <p:nvPicPr>
          <p:cNvPr id="8" name="Picture 7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7498079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965960"/>
            <a:ext cx="27980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3EB4"/>
                </a:solidFill>
                <a:latin typeface="Aptos Display"/>
              </a:defRPr>
            </a:pPr>
            <a:r>
              <a:t>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0496" y="2359152"/>
            <a:ext cx="2761488" cy="340156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11 entities in the ER model.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Master data: Category, Supplier, Product, Customer, User, Settings.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Transactions: Sale, Sale_Item, Payment, Inventory, Stock_Movement.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Primary keys use AUTO_INCREMENT surrogate IDs.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Natural identifiers such as SKU and invoice number are protected by UNIQUE constraints.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Foreign keys define the business relationships.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5. Relational Schema &amp; 3NF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Turning the ER model into reliable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94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65960"/>
            <a:ext cx="4992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3EB4"/>
                </a:solidFill>
                <a:latin typeface="Aptos Display"/>
              </a:defRPr>
            </a:pPr>
            <a:r>
              <a:t>Relational schema — selected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359152"/>
            <a:ext cx="4956048" cy="353872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2734"/>
                </a:solidFill>
                <a:latin typeface="Aptos"/>
              </a:defRPr>
            </a:pPr>
            <a:r>
              <a:t>• users(id, name, email, password, role, created_at)</a:t>
            </a:r>
          </a:p>
          <a:p>
            <a:pPr>
              <a:spcAft>
                <a:spcPts val="700"/>
              </a:spcAft>
              <a:defRPr sz="1200">
                <a:solidFill>
                  <a:srgbClr val="242734"/>
                </a:solidFill>
                <a:latin typeface="Aptos"/>
              </a:defRPr>
            </a:pPr>
            <a:r>
              <a:t>• categories(id, category_name, description, created_at)</a:t>
            </a:r>
          </a:p>
          <a:p>
            <a:pPr>
              <a:spcAft>
                <a:spcPts val="700"/>
              </a:spcAft>
              <a:defRPr sz="1200">
                <a:solidFill>
                  <a:srgbClr val="242734"/>
                </a:solidFill>
                <a:latin typeface="Aptos"/>
              </a:defRPr>
            </a:pPr>
            <a:r>
              <a:t>• suppliers(id, supplier_name, contact_person, phone, email, address, created_at)</a:t>
            </a:r>
          </a:p>
          <a:p>
            <a:pPr>
              <a:spcAft>
                <a:spcPts val="700"/>
              </a:spcAft>
              <a:defRPr sz="1200">
                <a:solidFill>
                  <a:srgbClr val="242734"/>
                </a:solidFill>
                <a:latin typeface="Aptos"/>
              </a:defRPr>
            </a:pPr>
            <a:r>
              <a:t>• products(id, product_name, sku, category_id*, supplier_id*, prices, reorder_level, …)</a:t>
            </a:r>
          </a:p>
          <a:p>
            <a:pPr>
              <a:spcAft>
                <a:spcPts val="700"/>
              </a:spcAft>
              <a:defRPr sz="1200">
                <a:solidFill>
                  <a:srgbClr val="242734"/>
                </a:solidFill>
                <a:latin typeface="Aptos"/>
              </a:defRPr>
            </a:pPr>
            <a:r>
              <a:t>• inventory(id, product_id*, quantity, last_updated)</a:t>
            </a:r>
          </a:p>
          <a:p>
            <a:pPr>
              <a:spcAft>
                <a:spcPts val="700"/>
              </a:spcAft>
              <a:defRPr sz="1200">
                <a:solidFill>
                  <a:srgbClr val="242734"/>
                </a:solidFill>
                <a:latin typeface="Aptos"/>
              </a:defRPr>
            </a:pPr>
            <a:r>
              <a:t>• customers(id, customer_name, phone, email, address, created_at)</a:t>
            </a:r>
          </a:p>
          <a:p>
            <a:pPr>
              <a:spcAft>
                <a:spcPts val="700"/>
              </a:spcAft>
              <a:defRPr sz="1200">
                <a:solidFill>
                  <a:srgbClr val="242734"/>
                </a:solidFill>
                <a:latin typeface="Aptos"/>
              </a:defRPr>
            </a:pPr>
            <a:r>
              <a:t>• sales / sale_items / payments / stock_movements / settings</a:t>
            </a:r>
          </a:p>
          <a:p>
            <a:pPr>
              <a:spcAft>
                <a:spcPts val="700"/>
              </a:spcAft>
              <a:defRPr sz="1200">
                <a:solidFill>
                  <a:srgbClr val="242734"/>
                </a:solidFill>
                <a:latin typeface="Aptos"/>
              </a:defRPr>
            </a:pPr>
            <a:r>
              <a:t>• v_product_stock — derived database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490118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915C"/>
                </a:solidFill>
                <a:latin typeface="Aptos Display"/>
              </a:defRPr>
            </a:pPr>
            <a:r>
              <a:t>Why the design is in 3NF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359152"/>
            <a:ext cx="4864608" cy="353872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1NF — every attribute is atomic; invoice products are separate sale_items rows.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2NF — no partial dependencies; surrogate keys are used.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3NF — non-key attributes do not depend on other non-key attributes.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Category and supplier details are stored once and referenced by foreign keys.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Stock quantity is separated from product master data.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Historical sale price is intentionally stored because old invoices must not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6. Database &amp; SQL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DDL, DML, joins and analytical queries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23444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443EB4"/>
                </a:solidFill>
                <a:latin typeface="Aptos Display"/>
              </a:defRPr>
            </a:pPr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3288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Documented SQL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7830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783080"/>
            <a:ext cx="73152" cy="1234440"/>
          </a:xfrm>
          <a:prstGeom prst="rect">
            <a:avLst/>
          </a:prstGeom>
          <a:solidFill>
            <a:srgbClr val="5B4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94767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B4BD2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3288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7830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783080"/>
            <a:ext cx="73152" cy="1234440"/>
          </a:xfrm>
          <a:prstGeom prst="rect">
            <a:avLst/>
          </a:prstGeom>
          <a:solidFill>
            <a:srgbClr val="1691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4767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69197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3288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Derived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7830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783080"/>
            <a:ext cx="73152" cy="1234440"/>
          </a:xfrm>
          <a:prstGeom prst="rect">
            <a:avLst/>
          </a:prstGeom>
          <a:solidFill>
            <a:srgbClr val="20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94767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915C"/>
                </a:solidFill>
                <a:latin typeface="Aptos Display"/>
              </a:defRPr>
            </a:pPr>
            <a:r>
              <a:t>3NF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3288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Normalised schema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37560"/>
            <a:ext cx="5303520" cy="2331720"/>
          </a:xfrm>
          <a:prstGeom prst="roundRect">
            <a:avLst/>
          </a:prstGeom>
          <a:solidFill>
            <a:srgbClr val="1F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566160"/>
            <a:ext cx="484632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6EBFF"/>
                </a:solidFill>
                <a:latin typeface="Consolas"/>
              </a:defRPr>
            </a:pPr>
            <a:r>
              <a:t>SELECT p.product_name, c.category_name,</a:t>
            </a:r>
          </a:p>
          <a:p>
            <a:pPr>
              <a:spcAft>
                <a:spcPts val="400"/>
              </a:spcAft>
              <a:defRPr sz="1300">
                <a:solidFill>
                  <a:srgbClr val="E6EBFF"/>
                </a:solidFill>
                <a:latin typeface="Consolas"/>
              </a:defRPr>
            </a:pPr>
            <a:r>
              <a:t>       p.selling_price</a:t>
            </a:r>
          </a:p>
          <a:p>
            <a:pPr>
              <a:spcAft>
                <a:spcPts val="400"/>
              </a:spcAft>
              <a:defRPr sz="1300">
                <a:solidFill>
                  <a:srgbClr val="E6EBFF"/>
                </a:solidFill>
                <a:latin typeface="Consolas"/>
              </a:defRPr>
            </a:pPr>
            <a:r>
              <a:t>FROM products p</a:t>
            </a:r>
          </a:p>
          <a:p>
            <a:pPr>
              <a:spcAft>
                <a:spcPts val="400"/>
              </a:spcAft>
              <a:defRPr sz="1300">
                <a:solidFill>
                  <a:srgbClr val="E6EBFF"/>
                </a:solidFill>
                <a:latin typeface="Consolas"/>
              </a:defRPr>
            </a:pPr>
            <a:r>
              <a:t>JOIN categories c</a:t>
            </a:r>
          </a:p>
          <a:p>
            <a:pPr>
              <a:spcAft>
                <a:spcPts val="400"/>
              </a:spcAft>
              <a:defRPr sz="1300">
                <a:solidFill>
                  <a:srgbClr val="E6EBFF"/>
                </a:solidFill>
                <a:latin typeface="Consolas"/>
              </a:defRPr>
            </a:pPr>
            <a:r>
              <a:t>  ON p.category_id = c.id;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33756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474720"/>
            <a:ext cx="48097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9197"/>
                </a:solidFill>
                <a:latin typeface="Aptos Display"/>
              </a:defRPr>
            </a:pPr>
            <a:r>
              <a:t>What to explain while running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67911"/>
            <a:ext cx="4773168" cy="161848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DDL: CREATE DATABASE, tables, keys, constraints, indexes and view.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DML/DQL: INSERT, UPDATE, DELETE, SELECT.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Queries demonstrate JOIN, GROUP BY / HAVING, aggregates, subqueries, ROLLUP and a window function.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Use the live MySQL Workbench during the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7. The Most Important DBMS Feature: Sale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ACID + locking prevents inconsistent stock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43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84831"/>
            <a:ext cx="183794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43EB4"/>
                </a:solidFill>
                <a:latin typeface="Aptos Display"/>
              </a:defRPr>
            </a:pPr>
            <a:r>
              <a:t>START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Begin transaction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4328" y="2441448"/>
            <a:ext cx="502920" cy="256032"/>
          </a:xfrm>
          <a:prstGeom prst="rightArrow">
            <a:avLst/>
          </a:prstGeom>
          <a:solidFill>
            <a:srgbClr val="66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39" y="19659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5B4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084831"/>
            <a:ext cx="183794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5B4BD2"/>
                </a:solidFill>
                <a:latin typeface="Aptos Display"/>
              </a:defRPr>
            </a:pPr>
            <a:r>
              <a:t>LOCK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SELECT ... FOR UPDATE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56048" y="2441448"/>
            <a:ext cx="502920" cy="256032"/>
          </a:xfrm>
          <a:prstGeom prst="rightArrow">
            <a:avLst/>
          </a:prstGeom>
          <a:solidFill>
            <a:srgbClr val="66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6359" y="19659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691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84831"/>
            <a:ext cx="183794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9197"/>
                </a:solidFill>
                <a:latin typeface="Aptos Display"/>
              </a:defRPr>
            </a:pPr>
            <a:r>
              <a:t>VALIDATE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Check stock &amp; totals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87767" y="2441448"/>
            <a:ext cx="502920" cy="256032"/>
          </a:xfrm>
          <a:prstGeom prst="rightArrow">
            <a:avLst/>
          </a:prstGeom>
          <a:solidFill>
            <a:srgbClr val="66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9659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0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2084831"/>
            <a:ext cx="183794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915C"/>
                </a:solidFill>
                <a:latin typeface="Aptos Display"/>
              </a:defRPr>
            </a:pPr>
            <a:r>
              <a:t>WRITE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Sale + items + stock + payment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19488" y="2441448"/>
            <a:ext cx="502920" cy="256032"/>
          </a:xfrm>
          <a:prstGeom prst="rightArrow">
            <a:avLst/>
          </a:prstGeom>
          <a:solidFill>
            <a:srgbClr val="66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800" y="196596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43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9528" y="2084831"/>
            <a:ext cx="183794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443EB4"/>
                </a:solidFill>
                <a:latin typeface="Aptos Display"/>
              </a:defRPr>
            </a:pPr>
            <a:r>
              <a:t>COMMIT</a:t>
            </a:r>
          </a:p>
          <a:p>
            <a:pPr algn="ctr">
              <a:defRPr sz="950">
                <a:solidFill>
                  <a:srgbClr val="666C7D"/>
                </a:solidFill>
                <a:latin typeface="Aptos"/>
              </a:defRPr>
            </a:pPr>
            <a:r>
              <a:t>Commit all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9476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931920"/>
            <a:ext cx="490118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915C"/>
                </a:solidFill>
                <a:latin typeface="Aptos Display"/>
              </a:defRPr>
            </a:pPr>
            <a:r>
              <a:t>If everything succeeds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25112"/>
            <a:ext cx="4864608" cy="1161287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A sale writes to five related tables in one ACID transaction.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Row-level locking prevents two concurrent sales from consuming the same stock.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A guarded UPDATE refuses an oversell.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9476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931920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E434A"/>
                </a:solidFill>
                <a:latin typeface="Aptos Display"/>
              </a:defRPr>
            </a:pPr>
            <a:r>
              <a:t>If something fails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325112"/>
            <a:ext cx="4818888" cy="1161287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If any step throws an error, the transaction performs ROLLBACK.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This prevents half-completed sales and keeps inventory consistent.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This is the key DBMS concept to highlight in the viva.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8. 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The working web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9</a:t>
            </a:r>
          </a:p>
        </p:txBody>
      </p:sp>
      <p:pic>
        <p:nvPicPr>
          <p:cNvPr id="8" name="Picture 7" descr="p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3657600" cy="4343400"/>
          </a:xfrm>
          <a:prstGeom prst="rect">
            <a:avLst/>
          </a:prstGeom>
        </p:spPr>
      </p:pic>
      <p:pic>
        <p:nvPicPr>
          <p:cNvPr id="9" name="Picture 8" descr="page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737360"/>
            <a:ext cx="3657600" cy="4343400"/>
          </a:xfrm>
          <a:prstGeom prst="rect">
            <a:avLst/>
          </a:prstGeom>
        </p:spPr>
      </p:pic>
      <p:pic>
        <p:nvPicPr>
          <p:cNvPr id="10" name="Picture 9" descr="page_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5" y="1737360"/>
            <a:ext cx="365760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44C"/>
                </a:solidFill>
                <a:latin typeface="Aptos"/>
              </a:defRPr>
            </a:pPr>
            <a:r>
              <a:t>Dashboard /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61447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44C"/>
                </a:solidFill>
                <a:latin typeface="Aptos"/>
              </a:defRPr>
            </a:pPr>
            <a:r>
              <a:t>Products &amp;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61447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44C"/>
                </a:solidFill>
                <a:latin typeface="Aptos"/>
              </a:defRPr>
            </a:pPr>
            <a:r>
              <a:t>Point of Sale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9. Live Demo — Prove UI ↔ Database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Keep Chrome, MySQL Workbench and VS Code 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10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783080"/>
            <a:ext cx="475488" cy="475488"/>
          </a:xfrm>
          <a:prstGeom prst="ellipse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1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647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44C"/>
                </a:solidFill>
                <a:latin typeface="Aptos Display"/>
              </a:defRPr>
            </a:pPr>
            <a:r>
              <a:t>Open RetailDesk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76479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C7D"/>
                </a:solidFill>
                <a:latin typeface="Aptos"/>
              </a:defRPr>
            </a:pPr>
            <a:r>
              <a:t>Chrome → http://localhost:5173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496312"/>
            <a:ext cx="475488" cy="475488"/>
          </a:xfrm>
          <a:prstGeom prst="ellipse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9464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7802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44C"/>
                </a:solidFill>
                <a:latin typeface="Aptos Display"/>
              </a:defRPr>
            </a:pPr>
            <a: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78024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C7D"/>
                </a:solidFill>
                <a:latin typeface="Aptos"/>
              </a:defRPr>
            </a:pPr>
            <a:r>
              <a:t>Use the Admin demo account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209544"/>
            <a:ext cx="475488" cy="475488"/>
          </a:xfrm>
          <a:prstGeom prst="ellipse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82696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19125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44C"/>
                </a:solidFill>
                <a:latin typeface="Aptos Display"/>
              </a:defRPr>
            </a:pPr>
            <a:r>
              <a:t>Insert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191256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C7D"/>
                </a:solidFill>
                <a:latin typeface="Aptos"/>
              </a:defRPr>
            </a:pPr>
            <a:r>
              <a:t>Add a product from the UI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922776"/>
            <a:ext cx="475488" cy="475488"/>
          </a:xfrm>
          <a:prstGeom prst="ellipse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9044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44C"/>
                </a:solidFill>
                <a:latin typeface="Aptos Display"/>
              </a:defRPr>
            </a:pPr>
            <a: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904488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C7D"/>
                </a:solidFill>
                <a:latin typeface="Aptos"/>
              </a:defRPr>
            </a:pPr>
            <a:r>
              <a:t>SELECT the new product in MySQL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636008"/>
            <a:ext cx="475488" cy="475488"/>
          </a:xfrm>
          <a:prstGeom prst="ellipse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17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44C"/>
                </a:solidFill>
                <a:latin typeface="Aptos Display"/>
              </a:defRPr>
            </a:pPr>
            <a:r>
              <a:t>Sell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61772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C7D"/>
                </a:solidFill>
                <a:latin typeface="Aptos"/>
              </a:defRPr>
            </a:pPr>
            <a:r>
              <a:t>Create a POS sale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349240"/>
            <a:ext cx="475488" cy="475488"/>
          </a:xfrm>
          <a:prstGeom prst="ellipse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22392"/>
            <a:ext cx="47548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3309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44C"/>
                </a:solidFill>
                <a:latin typeface="Aptos Display"/>
              </a:defRPr>
            </a:pPr>
            <a:r>
              <a:t>Verify stock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33095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C7D"/>
                </a:solidFill>
                <a:latin typeface="Aptos"/>
              </a:defRPr>
            </a:pPr>
            <a:r>
              <a:t>Query inventory and show quantity changed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5440680"/>
            <a:ext cx="3474720" cy="658368"/>
          </a:xfrm>
          <a:prstGeom prst="roundRect">
            <a:avLst/>
          </a:prstGeom>
          <a:solidFill>
            <a:srgbClr val="E7F7EF"/>
          </a:solidFill>
          <a:ln>
            <a:solidFill>
              <a:srgbClr val="20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555955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0915C"/>
                </a:solidFill>
                <a:latin typeface="Aptos"/>
              </a:defRPr>
            </a:pPr>
            <a:r>
              <a:t>Best proof: UI action → MySQL query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10. Security &amp; 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How the system protects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949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65960"/>
            <a:ext cx="4992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E434A"/>
                </a:solidFill>
                <a:latin typeface="Aptos Display"/>
              </a:defRPr>
            </a:pPr>
            <a:r>
              <a:t>Security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359152"/>
            <a:ext cx="4956048" cy="33558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Passwords are stored as bcrypt hashes.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JWT is used for authentication and role-based authorisation.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Server-side validation complements database constraints.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Parameterized SQL with ? placeholders helps prevent SQL injection.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Primary, foreign, UNIQUE and CHECK constraints enforce integrity.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Referential actions use RESTRICT, SET NULL and CASCADE intentionally.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34924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965960"/>
            <a:ext cx="494690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43EB4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359152"/>
            <a:ext cx="4910327" cy="335584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React 18 + React Router + Tailwind CSS + Recharts.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Node.js 18+ + Express REST API.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mysql2 connection pool with raw SQL.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MySQL 8 / InnoDB for storage, transactions and indexes.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Vite provides the development server and /api proxy.</a:t>
            </a:r>
          </a:p>
          <a:p>
            <a:pPr>
              <a:spcAft>
                <a:spcPts val="700"/>
              </a:spcAft>
              <a:defRPr sz="1400">
                <a:solidFill>
                  <a:srgbClr val="242734"/>
                </a:solidFill>
                <a:latin typeface="Aptos"/>
              </a:defRPr>
            </a:pPr>
            <a:r>
              <a:t>• The API validates the request before executing 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11. 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0700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Evidence that the system behaves as designed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15087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443EB4"/>
                </a:solidFill>
                <a:latin typeface="Aptos Display"/>
              </a:defRPr>
            </a:pPr>
            <a:r>
              <a:t>111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25603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Automated API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82880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828800"/>
            <a:ext cx="73152" cy="1508760"/>
          </a:xfrm>
          <a:prstGeom prst="rect">
            <a:avLst/>
          </a:prstGeom>
          <a:solidFill>
            <a:srgbClr val="20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99339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915C"/>
                </a:solidFill>
                <a:latin typeface="Aptos Display"/>
              </a:defRPr>
            </a:pPr>
            <a:r>
              <a:t>111 / 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578608"/>
            <a:ext cx="25603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82880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1828800"/>
            <a:ext cx="73152" cy="1508760"/>
          </a:xfrm>
          <a:prstGeom prst="rect">
            <a:avLst/>
          </a:prstGeom>
          <a:solidFill>
            <a:srgbClr val="CE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99339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CE434A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78608"/>
            <a:ext cx="25603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C7D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840480"/>
            <a:ext cx="48097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9197"/>
                </a:solidFill>
                <a:latin typeface="Aptos Display"/>
              </a:defRPr>
            </a:pPr>
            <a:r>
              <a:t>What was tested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33672"/>
            <a:ext cx="4773168" cy="134416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Authentication and read endpoints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CRUD + referential integrity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Product validation and inventory adjustment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Sale transaction and stock validation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Payments and reports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Role permissions and cleanup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7033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840480"/>
            <a:ext cx="48097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915C"/>
                </a:solidFill>
                <a:latin typeface="Aptos Display"/>
              </a:defRPr>
            </a:pPr>
            <a:r>
              <a:t>Key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4233672"/>
            <a:ext cx="4773168" cy="134416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22 documented SQL demonstration queries were executed.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Tests use a real HTTP API connected to a real MySQL database.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Important checks include rollback, overselling refusal and referential 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3EB4"/>
                </a:solidFill>
                <a:latin typeface="Aptos Display"/>
              </a:defRPr>
            </a:pPr>
            <a:r>
              <a:t>RETAILDESK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44C"/>
                </a:solidFill>
                <a:latin typeface="Aptos Display"/>
              </a:defRPr>
            </a:pPr>
            <a:r>
              <a:t>12. Conclusion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22860"/>
          </a:xfrm>
          <a:prstGeom prst="rect">
            <a:avLst/>
          </a:prstGeom>
          <a:solidFill>
            <a:srgbClr val="443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C7D"/>
                </a:solidFill>
                <a:latin typeface="Aptos"/>
              </a:defRPr>
            </a:pPr>
            <a:r>
              <a:t>DBMS PBL • Retail Inventory &amp; Sales Management System                                   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3949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49926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915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359152"/>
            <a:ext cx="4956048" cy="3447287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RetailDesk achieves the goal of a complete retail inventory and sales management system.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The 11-table + 1-view schema is normalised to 3NF.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Database constraints and ACID transactions protect business data.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SQL queries power dashboards, reports, invoices and POS workflows.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The automated API suite passed all 111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965960"/>
            <a:ext cx="494690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B4BD2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359152"/>
            <a:ext cx="4910327" cy="3447287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Purchase orders and goods-received notes.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Barcode scanning and label printing.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Returns / refunds and reverse stock movements.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Batch / expiry tracking and multi-store inventory.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Per-product GST slabs and GST reporting.</a:t>
            </a:r>
          </a:p>
          <a:p>
            <a:pPr>
              <a:spcAft>
                <a:spcPts val="700"/>
              </a:spcAft>
              <a:defRPr sz="1500">
                <a:solidFill>
                  <a:srgbClr val="242734"/>
                </a:solidFill>
                <a:latin typeface="Aptos"/>
              </a:defRPr>
            </a:pPr>
            <a:r>
              <a:t>• Payment gateway integration, backups and stronger audit tooling.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400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3D8F5"/>
                </a:solidFill>
                <a:latin typeface="Aptos"/>
              </a:defRPr>
            </a:pPr>
            <a:r>
              <a:t>Questions &amp; Viva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6492240" cy="3108960"/>
          </a:xfrm>
          <a:prstGeom prst="roundRect">
            <a:avLst/>
          </a:prstGeom>
          <a:solidFill>
            <a:srgbClr val="2C315F"/>
          </a:solidFill>
          <a:ln>
            <a:solidFill>
              <a:srgbClr val="DC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77440"/>
            <a:ext cx="608990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7BEFF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770632"/>
            <a:ext cx="6053327" cy="2395727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Oracle — MySQL 8.0 Reference Manual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Elmasri &amp; Navathe — Fundamentals of Database Systems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Silberschatz, Korth &amp; Sudarshan — Database System Concepts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Codd — Relational Model of Data for Large Shared Data Banks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Chen — The Entity-Relationship Model</a:t>
            </a:r>
          </a:p>
          <a:p>
            <a:pPr>
              <a:spcAft>
                <a:spcPts val="700"/>
              </a:spcAft>
              <a:defRPr sz="1300">
                <a:solidFill>
                  <a:srgbClr val="242734"/>
                </a:solidFill>
                <a:latin typeface="Aptos"/>
              </a:defRPr>
            </a:pPr>
            <a:r>
              <a:t>• Express.js, Node.js, mysql2 and React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3172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BEC3FF"/>
                </a:solidFill>
                <a:latin typeface="Aptos Display"/>
              </a:defRPr>
            </a:pPr>
            <a:r>
              <a:t>RETAILDESK</a:t>
            </a:r>
          </a:p>
          <a:p>
            <a:pPr algn="ctr">
              <a:defRPr sz="1500">
                <a:solidFill>
                  <a:srgbClr val="D2D6EF"/>
                </a:solidFill>
                <a:latin typeface="Aptos"/>
              </a:defRPr>
            </a:pPr>
            <a:r>
              <a:t>Inventory • Sales •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475488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7BEDC"/>
                </a:solidFill>
                <a:latin typeface="Aptos"/>
              </a:defRPr>
            </a:pPr>
            <a:r>
              <a:t>Built with React + Node.js + MySQL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RetailDesk — Retail Inventory &amp; Sales Management System</dc:title>
  <dc:subject>DBMS PBL Final Presentation</dc:subject>
  <dc:creator>RetailDesk Project Group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